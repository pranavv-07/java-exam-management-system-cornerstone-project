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92" r:id="rId6"/>
    <p:sldId id="274" r:id="rId7"/>
    <p:sldId id="293" r:id="rId8"/>
    <p:sldId id="280" r:id="rId9"/>
    <p:sldId id="283" r:id="rId10"/>
    <p:sldId id="286" r:id="rId11"/>
    <p:sldId id="285" r:id="rId12"/>
    <p:sldId id="271" r:id="rId13"/>
    <p:sldId id="294" r:id="rId14"/>
    <p:sldId id="295" r:id="rId15"/>
    <p:sldId id="281" r:id="rId16"/>
    <p:sldId id="287" r:id="rId17"/>
    <p:sldId id="289" r:id="rId18"/>
    <p:sldId id="288" r:id="rId19"/>
    <p:sldId id="296" r:id="rId20"/>
    <p:sldId id="297" r:id="rId21"/>
    <p:sldId id="290" r:id="rId22"/>
    <p:sldId id="291" r:id="rId23"/>
    <p:sldId id="268" r:id="rId24"/>
    <p:sldId id="269" r:id="rId25"/>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75" autoAdjust="0"/>
    <p:restoredTop sz="94694"/>
  </p:normalViewPr>
  <p:slideViewPr>
    <p:cSldViewPr>
      <p:cViewPr>
        <p:scale>
          <a:sx n="92" d="100"/>
          <a:sy n="92" d="100"/>
        </p:scale>
        <p:origin x="1160" y="5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07/04/26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E8C9-BC48-4D6B-B747-481203D5A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3EAF6-E13F-02AB-2687-381BE046F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38E4E-6ECD-9DC9-24CE-E5052C27B8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A52D13-5819-A37B-F0B5-C1D7A008A294}"/>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1073204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B44AB-56D6-456F-7D53-6495301AC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6669F-558C-5E54-78B2-4391D6469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21197-79A5-42E5-C46B-03235C45C0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1FA88AA-837D-81CC-5812-F5EC7E8BD64B}"/>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2989574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17</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18</a:t>
            </a:fld>
            <a:endParaRPr lang="en-IN"/>
          </a:p>
        </p:txBody>
      </p:sp>
    </p:spTree>
    <p:extLst>
      <p:ext uri="{BB962C8B-B14F-4D97-AF65-F5344CB8AC3E}">
        <p14:creationId xmlns:p14="http://schemas.microsoft.com/office/powerpoint/2010/main" val="918734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47BCE-F52E-6E5D-8127-176340C07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7087B-B322-EFAC-7281-7CA134E5D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6F559-BF36-126E-D0C8-A53104F3F0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3CC0CD-2B25-6D1D-073E-7F87A5A14393}"/>
              </a:ext>
            </a:extLst>
          </p:cNvPr>
          <p:cNvSpPr>
            <a:spLocks noGrp="1"/>
          </p:cNvSpPr>
          <p:nvPr>
            <p:ph type="sldNum" sz="quarter" idx="10"/>
          </p:nvPr>
        </p:nvSpPr>
        <p:spPr/>
        <p:txBody>
          <a:bodyPr/>
          <a:lstStyle/>
          <a:p>
            <a:fld id="{67E471F2-2083-493A-8C9E-53209FFA1EC8}" type="slidenum">
              <a:rPr lang="en-IN" smtClean="0"/>
              <a:t>19</a:t>
            </a:fld>
            <a:endParaRPr lang="en-IN"/>
          </a:p>
        </p:txBody>
      </p:sp>
    </p:spTree>
    <p:extLst>
      <p:ext uri="{BB962C8B-B14F-4D97-AF65-F5344CB8AC3E}">
        <p14:creationId xmlns:p14="http://schemas.microsoft.com/office/powerpoint/2010/main" val="269730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63162-9EE4-B304-662C-1934542C3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3263E-6109-5122-A1F0-8BC4B314D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1360E-CD7C-19B6-E1A8-D19ECEC695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C3AEEC-8BED-A281-7BCA-93AC52818E67}"/>
              </a:ext>
            </a:extLst>
          </p:cNvPr>
          <p:cNvSpPr>
            <a:spLocks noGrp="1"/>
          </p:cNvSpPr>
          <p:nvPr>
            <p:ph type="sldNum" sz="quarter" idx="10"/>
          </p:nvPr>
        </p:nvSpPr>
        <p:spPr/>
        <p:txBody>
          <a:bodyPr/>
          <a:lstStyle/>
          <a:p>
            <a:fld id="{67E471F2-2083-493A-8C9E-53209FFA1EC8}" type="slidenum">
              <a:rPr lang="en-IN" smtClean="0"/>
              <a:t>20</a:t>
            </a:fld>
            <a:endParaRPr lang="en-IN"/>
          </a:p>
        </p:txBody>
      </p:sp>
    </p:spTree>
    <p:extLst>
      <p:ext uri="{BB962C8B-B14F-4D97-AF65-F5344CB8AC3E}">
        <p14:creationId xmlns:p14="http://schemas.microsoft.com/office/powerpoint/2010/main" val="588869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hyperlink" Target="https://learn.microsoft.com/en-us/power-automate/" TargetMode="External"/><Relationship Id="rId3" Type="http://schemas.openxmlformats.org/officeDocument/2006/relationships/image" Target="../media/image2.png"/><Relationship Id="rId7" Type="http://schemas.openxmlformats.org/officeDocument/2006/relationships/hyperlink" Target="https://dev.mysql.com/doc/"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docs.oracle.com/en/java/" TargetMode="External"/><Relationship Id="rId5" Type="http://schemas.openxmlformats.org/officeDocument/2006/relationships/image" Target="../media/image6.jp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a:t>Exam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Pranav Vedula(24B11CS355)</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Medapati Satya Harsha Vardhan Reddy(24B11CS275)</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Posa Kaveri(24B11CS352)</a:t>
            </a:r>
          </a:p>
          <a:p>
            <a:pPr marL="3810" algn="ctr">
              <a:lnSpc>
                <a:spcPct val="100000"/>
              </a:lnSpc>
              <a:spcBef>
                <a:spcPts val="750"/>
              </a:spcBef>
            </a:pPr>
            <a:r>
              <a:rPr lang="en-IN" sz="2000" spc="-10" dirty="0" err="1">
                <a:solidFill>
                  <a:srgbClr val="17375E"/>
                </a:solidFill>
                <a:latin typeface="Times New Roman" panose="02020603050405020304" pitchFamily="18" charset="0"/>
                <a:cs typeface="Times New Roman" panose="02020603050405020304" pitchFamily="18" charset="0"/>
              </a:rPr>
              <a:t>Bodhanapu</a:t>
            </a:r>
            <a:r>
              <a:rPr lang="en-IN" sz="2000" spc="-10" dirty="0">
                <a:solidFill>
                  <a:srgbClr val="17375E"/>
                </a:solidFill>
                <a:latin typeface="Times New Roman" panose="02020603050405020304" pitchFamily="18" charset="0"/>
                <a:cs typeface="Times New Roman" panose="02020603050405020304" pitchFamily="18" charset="0"/>
              </a:rPr>
              <a:t> Suhas(24B11CS049)</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Computer Science Engineering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6633291"/>
          </a:xfrm>
          <a:prstGeom prst="rect">
            <a:avLst/>
          </a:prstGeom>
          <a:noFill/>
        </p:spPr>
        <p:txBody>
          <a:bodyPr wrap="square" rtlCol="0">
            <a:spAutoFit/>
          </a:bodyPr>
          <a:lstStyle/>
          <a:p>
            <a:pPr marL="342900" indent="-342900" algn="l">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Exam Seating System is a Java Swing desktop application developed for Aditya University to automate and manage the entire examination seating workflow. It connects to a MySQL database and supports two roles: Admin and Examiner. The system allows administrators to configure rooms with custom row/column grids and mark broken seats, import students via CSV or manual entry, and manage user accounts and faculty (invigilators). The Examiner role enables automatic seating allocation across multiple sections and buildings, generates HTML seating plans and attendance sheets, produces hall tickets with student photos, creates and exports a visual exam timetable, and tracks absentees. The application features a dark/light theme toggle, keyboard shortcuts, a live clock status bar, and exports data as HTML, JSON, and CSV.</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4602029"/>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Problem Statement :</a:t>
            </a: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Traditional exam seating in universities is done manually: staff print lists, physically assign desks, and produce attendance registers by hand. This process is error-prone, time-consuming, and does not scale when multiple branches (CSE, IT, AIML, etc.) appear in the same hall. Conflicts like double-booking a room, assigning an invigilator to two simultaneous exams, or misplacing a student's seat number are common.</a:t>
            </a:r>
          </a:p>
          <a:p>
            <a:pPr algn="just">
              <a:lnSpc>
                <a:spcPct val="150000"/>
              </a:lnSpc>
            </a:pP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7D71-D488-7493-61CA-AB5F6D7B5705}"/>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656705E6-D9C6-A01F-D8CF-2180E77B0B97}"/>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E092467B-068D-0216-C345-BB1B9AFB5E8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A062D15-9D7D-30FA-9267-AAADA08BC8B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B6CBBF63-2C7A-2170-5CC9-F898F751A3DE}"/>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7385F2E-4172-1465-7A9C-829EC61ECFC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CC7691AC-5E3C-D738-7C37-A84DDD022465}"/>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D16BCD03-90C8-1C1F-B7ED-1BFCA29D1101}"/>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5DB68B5C-9C21-B9D1-12EE-2F31DA5505AD}"/>
              </a:ext>
            </a:extLst>
          </p:cNvPr>
          <p:cNvSpPr txBox="1"/>
          <p:nvPr/>
        </p:nvSpPr>
        <p:spPr>
          <a:xfrm>
            <a:off x="685800" y="1437175"/>
            <a:ext cx="8991600" cy="6633354"/>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Solution Overview :</a:t>
            </a:r>
          </a:p>
          <a:p>
            <a:pPr>
              <a:lnSpc>
                <a:spcPct val="150000"/>
              </a:lnSpc>
              <a:buNone/>
            </a:pPr>
            <a:r>
              <a:rPr lang="en-IN" sz="2200" dirty="0">
                <a:latin typeface="Times New Roman" panose="02020603050405020304" pitchFamily="18" charset="0"/>
                <a:cs typeface="Times New Roman" panose="02020603050405020304" pitchFamily="18" charset="0"/>
              </a:rPr>
              <a:t>This system replaces the manual process with an automated desktop application. Key capabilities introduced:</a:t>
            </a:r>
          </a:p>
          <a:p>
            <a:pPr>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Role-based login (Admin / Examiner) enforced via a users database table</a:t>
            </a:r>
          </a:p>
          <a:p>
            <a:pPr>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Room layout configured as a grid (rows × columns) with individual seats toggleable as broken</a:t>
            </a:r>
          </a:p>
          <a:p>
            <a:pPr>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Student data imported from CSV or entered manually by section (CSE 1–9, AIML, IT, etc.)</a:t>
            </a:r>
          </a:p>
          <a:p>
            <a:pPr>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Seating allocated column-wise across rooms to maximise space utilisation</a:t>
            </a:r>
          </a:p>
          <a:p>
            <a:pPr>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One unique invigilator auto-assigned per room from the faculty roster</a:t>
            </a:r>
          </a:p>
          <a:p>
            <a:pPr>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Outputs: seating plan HTML (printable), attendance sheet HTML, hall tickets, HOD schedule JSON, timetable HTML</a:t>
            </a:r>
          </a:p>
          <a:p>
            <a:pPr algn="just">
              <a:lnSpc>
                <a:spcPct val="150000"/>
              </a:lnSpc>
            </a:pP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5605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77315"/>
            <a:ext cx="8534400" cy="984885"/>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pPr algn="just">
              <a:spcBef>
                <a:spcPts val="1200"/>
              </a:spcBef>
            </a:pPr>
            <a:endParaRPr lang="en-US" sz="2400" b="1"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graphicFrame>
        <p:nvGraphicFramePr>
          <p:cNvPr id="2" name="Table 1">
            <a:extLst>
              <a:ext uri="{FF2B5EF4-FFF2-40B4-BE49-F238E27FC236}">
                <a16:creationId xmlns:a16="http://schemas.microsoft.com/office/drawing/2014/main" id="{E781DDC4-9150-9C78-FAC4-8BCF9CF49183}"/>
              </a:ext>
            </a:extLst>
          </p:cNvPr>
          <p:cNvGraphicFramePr>
            <a:graphicFrameLocks noGrp="1"/>
          </p:cNvGraphicFramePr>
          <p:nvPr>
            <p:extLst>
              <p:ext uri="{D42A27DB-BD31-4B8C-83A1-F6EECF244321}">
                <p14:modId xmlns:p14="http://schemas.microsoft.com/office/powerpoint/2010/main" val="3605696775"/>
              </p:ext>
            </p:extLst>
          </p:nvPr>
        </p:nvGraphicFramePr>
        <p:xfrm>
          <a:off x="457200" y="1880692"/>
          <a:ext cx="9220200" cy="5570956"/>
        </p:xfrm>
        <a:graphic>
          <a:graphicData uri="http://schemas.openxmlformats.org/drawingml/2006/table">
            <a:tbl>
              <a:tblPr firstRow="1">
                <a:tableStyleId>{2D5ABB26-0587-4C30-8999-92F81FD0307C}</a:tableStyleId>
              </a:tblPr>
              <a:tblGrid>
                <a:gridCol w="4610100">
                  <a:extLst>
                    <a:ext uri="{9D8B030D-6E8A-4147-A177-3AD203B41FA5}">
                      <a16:colId xmlns:a16="http://schemas.microsoft.com/office/drawing/2014/main" val="400299699"/>
                    </a:ext>
                  </a:extLst>
                </a:gridCol>
                <a:gridCol w="4610100">
                  <a:extLst>
                    <a:ext uri="{9D8B030D-6E8A-4147-A177-3AD203B41FA5}">
                      <a16:colId xmlns:a16="http://schemas.microsoft.com/office/drawing/2014/main" val="748704650"/>
                    </a:ext>
                  </a:extLst>
                </a:gridCol>
              </a:tblGrid>
              <a:tr h="318340">
                <a:tc>
                  <a:txBody>
                    <a:bodyPr/>
                    <a:lstStyle/>
                    <a:p>
                      <a:pPr>
                        <a:buNone/>
                      </a:pPr>
                      <a:r>
                        <a:rPr lang="en-IN" sz="900"/>
                        <a:t>Actor</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Requirement</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593168"/>
                  </a:ext>
                </a:extLst>
              </a:tr>
              <a:tr h="318340">
                <a:tc>
                  <a:txBody>
                    <a:bodyPr/>
                    <a:lstStyle/>
                    <a:p>
                      <a:pPr>
                        <a:buNone/>
                      </a:pPr>
                      <a:r>
                        <a:rPr lang="en-IN" sz="900"/>
                        <a:t>Admin</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Configure room grids, mark broken seats</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6088937"/>
                  </a:ext>
                </a:extLst>
              </a:tr>
              <a:tr h="318340">
                <a:tc>
                  <a:txBody>
                    <a:bodyPr/>
                    <a:lstStyle/>
                    <a:p>
                      <a:pPr>
                        <a:buNone/>
                      </a:pPr>
                      <a:r>
                        <a:rPr lang="en-IN" sz="900"/>
                        <a:t>Admin</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Import students via CSV upload</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6600864"/>
                  </a:ext>
                </a:extLst>
              </a:tr>
              <a:tr h="557096">
                <a:tc>
                  <a:txBody>
                    <a:bodyPr/>
                    <a:lstStyle/>
                    <a:p>
                      <a:pPr>
                        <a:buNone/>
                      </a:pPr>
                      <a:r>
                        <a:rPr lang="en-IN" sz="900"/>
                        <a:t>Admin</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Create/delete user accounts (Admin or Examiner role)</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0546876"/>
                  </a:ext>
                </a:extLst>
              </a:tr>
              <a:tr h="318340">
                <a:tc>
                  <a:txBody>
                    <a:bodyPr/>
                    <a:lstStyle/>
                    <a:p>
                      <a:pPr>
                        <a:buNone/>
                      </a:pPr>
                      <a:r>
                        <a:rPr lang="en-IN" sz="900"/>
                        <a:t>Admin</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Add faculty/invigilators with department</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4951815"/>
                  </a:ext>
                </a:extLst>
              </a:tr>
              <a:tr h="318340">
                <a:tc>
                  <a:txBody>
                    <a:bodyPr/>
                    <a:lstStyle/>
                    <a:p>
                      <a:pPr>
                        <a:buNone/>
                      </a:pPr>
                      <a:r>
                        <a:rPr lang="en-IN" sz="900"/>
                        <a:t>Admin</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Backup &amp; restore database; export to CSV</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8738965"/>
                  </a:ext>
                </a:extLst>
              </a:tr>
              <a:tr h="557096">
                <a:tc>
                  <a:txBody>
                    <a:bodyPr/>
                    <a:lstStyle/>
                    <a:p>
                      <a:pPr>
                        <a:buNone/>
                      </a:pPr>
                      <a:r>
                        <a:rPr lang="en-IN" sz="900"/>
                        <a:t>Examiner</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Generate seating plan for selected sections &amp; date</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0175703"/>
                  </a:ext>
                </a:extLst>
              </a:tr>
              <a:tr h="557096">
                <a:tc>
                  <a:txBody>
                    <a:bodyPr/>
                    <a:lstStyle/>
                    <a:p>
                      <a:pPr>
                        <a:buNone/>
                      </a:pPr>
                      <a:r>
                        <a:rPr lang="en-IN" sz="900"/>
                        <a:t>Examiner</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Auto-assign invigilators; check room availability</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176922"/>
                  </a:ext>
                </a:extLst>
              </a:tr>
              <a:tr h="557096">
                <a:tc>
                  <a:txBody>
                    <a:bodyPr/>
                    <a:lstStyle/>
                    <a:p>
                      <a:pPr>
                        <a:buNone/>
                      </a:pPr>
                      <a:r>
                        <a:rPr lang="en-IN" sz="900"/>
                        <a:t>Examiner</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Build and export exam timetable (FN/AN slots)</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5689021"/>
                  </a:ext>
                </a:extLst>
              </a:tr>
              <a:tr h="557096">
                <a:tc>
                  <a:txBody>
                    <a:bodyPr/>
                    <a:lstStyle/>
                    <a:p>
                      <a:pPr>
                        <a:buNone/>
                      </a:pPr>
                      <a:r>
                        <a:rPr lang="en-IN" sz="900"/>
                        <a:t>Examiner</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Generate and download hall tickets per student</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7224176"/>
                  </a:ext>
                </a:extLst>
              </a:tr>
              <a:tr h="318340">
                <a:tc>
                  <a:txBody>
                    <a:bodyPr/>
                    <a:lstStyle/>
                    <a:p>
                      <a:pPr>
                        <a:buNone/>
                      </a:pPr>
                      <a:r>
                        <a:rPr lang="en-IN" sz="900"/>
                        <a:t>Examiner</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Mark absentees and save attendance records</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8005736"/>
                  </a:ext>
                </a:extLst>
              </a:tr>
              <a:tr h="557096">
                <a:tc>
                  <a:txBody>
                    <a:bodyPr/>
                    <a:lstStyle/>
                    <a:p>
                      <a:pPr>
                        <a:buNone/>
                      </a:pPr>
                      <a:r>
                        <a:rPr lang="en-IN" sz="900"/>
                        <a:t>Both</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a:t>Search student-to-seat lookup with pagination</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961247"/>
                  </a:ext>
                </a:extLst>
              </a:tr>
              <a:tr h="318340">
                <a:tc>
                  <a:txBody>
                    <a:bodyPr/>
                    <a:lstStyle/>
                    <a:p>
                      <a:pPr>
                        <a:buNone/>
                      </a:pPr>
                      <a:r>
                        <a:rPr lang="en-IN" sz="900"/>
                        <a:t>Both</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900" dirty="0"/>
                        <a:t>View invigilator duty roster; export as HTML</a:t>
                      </a:r>
                    </a:p>
                  </a:txBody>
                  <a:tcPr marL="47058" marR="47058" marT="23529" marB="23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6418862"/>
                  </a:ext>
                </a:extLst>
              </a:tr>
            </a:tbl>
          </a:graphicData>
        </a:graphic>
      </p:graphicFrame>
    </p:spTree>
    <p:extLst>
      <p:ext uri="{BB962C8B-B14F-4D97-AF65-F5344CB8AC3E}">
        <p14:creationId xmlns:p14="http://schemas.microsoft.com/office/powerpoint/2010/main" val="4273835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5DE52-6413-2C91-6AF6-96787014FDC4}"/>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9B6C4DDB-A293-D989-0275-14CE6C57F702}"/>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2B7D300-475B-2B78-C8E2-BE37BE60BBCC}"/>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D11670E-F9C1-5BE1-F459-93F75763D7FE}"/>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A9AC25F1-4D73-349B-E719-01130C9AFE85}"/>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A2B5445B-148F-0024-1528-0BCA784163B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ACDCA5C2-1F14-13F7-8077-98B57BFBAF4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FE7FD71A-C159-2BA9-4906-FD673932EB4D}"/>
              </a:ext>
            </a:extLst>
          </p:cNvPr>
          <p:cNvSpPr txBox="1"/>
          <p:nvPr/>
        </p:nvSpPr>
        <p:spPr>
          <a:xfrm>
            <a:off x="987471" y="1053128"/>
            <a:ext cx="8305800" cy="6125459"/>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a:lnSpc>
                <a:spcPct val="150000"/>
              </a:lnSpc>
            </a:pPr>
            <a:r>
              <a:rPr lang="en-IN" sz="2200" dirty="0">
                <a:latin typeface="Times New Roman" panose="02020603050405020304" pitchFamily="18" charset="0"/>
                <a:cs typeface="Times New Roman" panose="02020603050405020304" pitchFamily="18" charset="0"/>
              </a:rPr>
              <a:t>Processor: Intel i3 or above </a:t>
            </a:r>
          </a:p>
          <a:p>
            <a:pPr>
              <a:lnSpc>
                <a:spcPct val="150000"/>
              </a:lnSpc>
            </a:pPr>
            <a:r>
              <a:rPr lang="en-IN" sz="2200" dirty="0">
                <a:latin typeface="Times New Roman" panose="02020603050405020304" pitchFamily="18" charset="0"/>
                <a:cs typeface="Times New Roman" panose="02020603050405020304" pitchFamily="18" charset="0"/>
              </a:rPr>
              <a:t>RAM: Minimum 4 GB </a:t>
            </a:r>
          </a:p>
          <a:p>
            <a:pPr>
              <a:lnSpc>
                <a:spcPct val="150000"/>
              </a:lnSpc>
            </a:pPr>
            <a:r>
              <a:rPr lang="en-IN" sz="2200" dirty="0">
                <a:latin typeface="Times New Roman" panose="02020603050405020304" pitchFamily="18" charset="0"/>
                <a:cs typeface="Times New Roman" panose="02020603050405020304" pitchFamily="18" charset="0"/>
              </a:rPr>
              <a:t>Storage: 20 GB </a:t>
            </a:r>
          </a:p>
          <a:p>
            <a:pPr>
              <a:lnSpc>
                <a:spcPct val="150000"/>
              </a:lnSpc>
            </a:pPr>
            <a:r>
              <a:rPr lang="en-IN" sz="2200" dirty="0">
                <a:latin typeface="Times New Roman" panose="02020603050405020304" pitchFamily="18" charset="0"/>
                <a:cs typeface="Times New Roman" panose="02020603050405020304" pitchFamily="18" charset="0"/>
              </a:rPr>
              <a:t>Input Devices: Keyboard, Mouse </a:t>
            </a:r>
          </a:p>
          <a:p>
            <a:pPr>
              <a:lnSpc>
                <a:spcPct val="150000"/>
              </a:lnSpc>
            </a:pPr>
            <a:r>
              <a:rPr lang="en-IN" sz="2200" dirty="0">
                <a:latin typeface="Times New Roman" panose="02020603050405020304" pitchFamily="18" charset="0"/>
                <a:cs typeface="Times New Roman" panose="02020603050405020304" pitchFamily="18" charset="0"/>
              </a:rPr>
              <a:t>Output Device: Monitor </a:t>
            </a: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a:lnSpc>
                <a:spcPct val="150000"/>
              </a:lnSpc>
            </a:pPr>
            <a:r>
              <a:rPr lang="en-IN" sz="2200" dirty="0">
                <a:latin typeface="Times New Roman" panose="02020603050405020304" pitchFamily="18" charset="0"/>
                <a:cs typeface="Times New Roman" panose="02020603050405020304" pitchFamily="18" charset="0"/>
              </a:rPr>
              <a:t>Operating System: Windows / macOS / Linux </a:t>
            </a:r>
          </a:p>
          <a:p>
            <a:pPr>
              <a:lnSpc>
                <a:spcPct val="150000"/>
              </a:lnSpc>
            </a:pPr>
            <a:r>
              <a:rPr lang="en-IN" sz="2200" dirty="0">
                <a:latin typeface="Times New Roman" panose="02020603050405020304" pitchFamily="18" charset="0"/>
                <a:cs typeface="Times New Roman" panose="02020603050405020304" pitchFamily="18" charset="0"/>
              </a:rPr>
              <a:t>Programming Language: Java (JDK 8+) </a:t>
            </a:r>
          </a:p>
          <a:p>
            <a:pPr>
              <a:lnSpc>
                <a:spcPct val="150000"/>
              </a:lnSpc>
            </a:pPr>
            <a:r>
              <a:rPr lang="en-IN" sz="2200" dirty="0">
                <a:latin typeface="Times New Roman" panose="02020603050405020304" pitchFamily="18" charset="0"/>
                <a:cs typeface="Times New Roman" panose="02020603050405020304" pitchFamily="18" charset="0"/>
              </a:rPr>
              <a:t>IDE: IntelliJ / Eclipse / VS Code </a:t>
            </a:r>
          </a:p>
          <a:p>
            <a:pPr>
              <a:lnSpc>
                <a:spcPct val="150000"/>
              </a:lnSpc>
            </a:pPr>
            <a:r>
              <a:rPr lang="en-IN" sz="2200" dirty="0">
                <a:latin typeface="Times New Roman" panose="02020603050405020304" pitchFamily="18" charset="0"/>
                <a:cs typeface="Times New Roman" panose="02020603050405020304" pitchFamily="18" charset="0"/>
              </a:rPr>
              <a:t>Database: MySQL </a:t>
            </a:r>
          </a:p>
          <a:p>
            <a:pPr>
              <a:lnSpc>
                <a:spcPct val="150000"/>
              </a:lnSpc>
            </a:pPr>
            <a:r>
              <a:rPr lang="en-IN" sz="2200" dirty="0">
                <a:latin typeface="Times New Roman" panose="02020603050405020304" pitchFamily="18" charset="0"/>
                <a:cs typeface="Times New Roman" panose="02020603050405020304" pitchFamily="18" charset="0"/>
              </a:rPr>
              <a:t>Connectivity: JDBC</a:t>
            </a:r>
          </a:p>
        </p:txBody>
      </p:sp>
      <p:pic>
        <p:nvPicPr>
          <p:cNvPr id="17" name="object 3">
            <a:extLst>
              <a:ext uri="{FF2B5EF4-FFF2-40B4-BE49-F238E27FC236}">
                <a16:creationId xmlns:a16="http://schemas.microsoft.com/office/drawing/2014/main" id="{CC435AC8-42B3-F883-FC1E-92CEFA488AA4}"/>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18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459209" y="1538820"/>
            <a:ext cx="9599191" cy="646331"/>
          </a:xfrm>
          <a:prstGeom prst="rect">
            <a:avLst/>
          </a:prstGeom>
          <a:noFill/>
        </p:spPr>
        <p:txBody>
          <a:bodyPr wrap="square" rtlCol="0">
            <a:spAutoFit/>
          </a:bodyPr>
          <a:lstStyle/>
          <a:p>
            <a:r>
              <a:rPr lang="en-IN" dirty="0"/>
              <a:t>The database (</a:t>
            </a:r>
            <a:r>
              <a:rPr lang="en-IN" dirty="0" err="1">
                <a:latin typeface="Courier New" panose="02070309020205020404" pitchFamily="49" charset="0"/>
              </a:rPr>
              <a:t>projectdb</a:t>
            </a:r>
            <a:r>
              <a:rPr lang="en-IN" dirty="0"/>
              <a:t>) contains 10 tables, all auto-created by </a:t>
            </a:r>
            <a:r>
              <a:rPr lang="en-IN" dirty="0" err="1">
                <a:latin typeface="Courier New" panose="02070309020205020404" pitchFamily="49" charset="0"/>
              </a:rPr>
              <a:t>initDatabase</a:t>
            </a:r>
            <a:r>
              <a:rPr lang="en-IN" dirty="0">
                <a:latin typeface="Courier New" panose="02070309020205020404" pitchFamily="49" charset="0"/>
              </a:rPr>
              <a:t>()</a:t>
            </a:r>
            <a:r>
              <a:rPr lang="en-IN" dirty="0"/>
              <a:t> on first connection:</a:t>
            </a:r>
          </a:p>
        </p:txBody>
      </p:sp>
      <p:graphicFrame>
        <p:nvGraphicFramePr>
          <p:cNvPr id="14" name="Table 13">
            <a:extLst>
              <a:ext uri="{FF2B5EF4-FFF2-40B4-BE49-F238E27FC236}">
                <a16:creationId xmlns:a16="http://schemas.microsoft.com/office/drawing/2014/main" id="{F7CB30DB-74C1-B07A-763F-BB5CA77D64BA}"/>
              </a:ext>
            </a:extLst>
          </p:cNvPr>
          <p:cNvGraphicFramePr>
            <a:graphicFrameLocks noGrp="1"/>
          </p:cNvGraphicFramePr>
          <p:nvPr>
            <p:extLst>
              <p:ext uri="{D42A27DB-BD31-4B8C-83A1-F6EECF244321}">
                <p14:modId xmlns:p14="http://schemas.microsoft.com/office/powerpoint/2010/main" val="4219881679"/>
              </p:ext>
            </p:extLst>
          </p:nvPr>
        </p:nvGraphicFramePr>
        <p:xfrm>
          <a:off x="460198" y="2819400"/>
          <a:ext cx="8760002" cy="4024437"/>
        </p:xfrm>
        <a:graphic>
          <a:graphicData uri="http://schemas.openxmlformats.org/drawingml/2006/table">
            <a:tbl>
              <a:tblPr/>
              <a:tblGrid>
                <a:gridCol w="4380001">
                  <a:extLst>
                    <a:ext uri="{9D8B030D-6E8A-4147-A177-3AD203B41FA5}">
                      <a16:colId xmlns:a16="http://schemas.microsoft.com/office/drawing/2014/main" val="2908155221"/>
                    </a:ext>
                  </a:extLst>
                </a:gridCol>
                <a:gridCol w="4380001">
                  <a:extLst>
                    <a:ext uri="{9D8B030D-6E8A-4147-A177-3AD203B41FA5}">
                      <a16:colId xmlns:a16="http://schemas.microsoft.com/office/drawing/2014/main" val="2973275401"/>
                    </a:ext>
                  </a:extLst>
                </a:gridCol>
              </a:tblGrid>
              <a:tr h="237563">
                <a:tc>
                  <a:txBody>
                    <a:bodyPr/>
                    <a:lstStyle/>
                    <a:p>
                      <a:pPr>
                        <a:buNone/>
                      </a:pPr>
                      <a:r>
                        <a:rPr lang="en-IN" sz="1100"/>
                        <a:t>Table</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Purpose</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504919"/>
                  </a:ext>
                </a:extLst>
              </a:tr>
              <a:tr h="237563">
                <a:tc>
                  <a:txBody>
                    <a:bodyPr/>
                    <a:lstStyle/>
                    <a:p>
                      <a:pPr>
                        <a:buNone/>
                      </a:pPr>
                      <a:r>
                        <a:rPr lang="en-IN" sz="1100">
                          <a:latin typeface="Courier New" panose="02070309020205020404" pitchFamily="49" charset="0"/>
                        </a:rPr>
                        <a:t>students</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Roll no, name, section, branch, email</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00774"/>
                  </a:ext>
                </a:extLst>
              </a:tr>
              <a:tr h="390182">
                <a:tc>
                  <a:txBody>
                    <a:bodyPr/>
                    <a:lstStyle/>
                    <a:p>
                      <a:pPr>
                        <a:buNone/>
                      </a:pPr>
                      <a:r>
                        <a:rPr lang="en-IN" sz="1100">
                          <a:latin typeface="Courier New" panose="02070309020205020404" pitchFamily="49" charset="0"/>
                        </a:rPr>
                        <a:t>rooms</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Room no, grid dimensions, capacity, building</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821248"/>
                  </a:ext>
                </a:extLst>
              </a:tr>
              <a:tr h="390182">
                <a:tc>
                  <a:txBody>
                    <a:bodyPr/>
                    <a:lstStyle/>
                    <a:p>
                      <a:pPr>
                        <a:buNone/>
                      </a:pPr>
                      <a:r>
                        <a:rPr lang="en-IN" sz="1100">
                          <a:latin typeface="Courier New" panose="02070309020205020404" pitchFamily="49" charset="0"/>
                        </a:rPr>
                        <a:t>room_broken_seats</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Individual broken seat coordinates per room</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0120920"/>
                  </a:ext>
                </a:extLst>
              </a:tr>
              <a:tr h="416519">
                <a:tc>
                  <a:txBody>
                    <a:bodyPr/>
                    <a:lstStyle/>
                    <a:p>
                      <a:pPr>
                        <a:buNone/>
                      </a:pPr>
                      <a:r>
                        <a:rPr lang="en-IN" sz="1100">
                          <a:latin typeface="Courier New" panose="02070309020205020404" pitchFamily="49" charset="0"/>
                        </a:rPr>
                        <a:t>seating_plan</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Core allocation: who sits where, when, with whom</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7260513"/>
                  </a:ext>
                </a:extLst>
              </a:tr>
              <a:tr h="237563">
                <a:tc>
                  <a:txBody>
                    <a:bodyPr/>
                    <a:lstStyle/>
                    <a:p>
                      <a:pPr>
                        <a:buNone/>
                      </a:pPr>
                      <a:r>
                        <a:rPr lang="en-IN" sz="1100">
                          <a:latin typeface="Courier New" panose="02070309020205020404" pitchFamily="49" charset="0"/>
                        </a:rPr>
                        <a:t>faculty</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Invigilator name, department, contact</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1644254"/>
                  </a:ext>
                </a:extLst>
              </a:tr>
              <a:tr h="416519">
                <a:tc>
                  <a:txBody>
                    <a:bodyPr/>
                    <a:lstStyle/>
                    <a:p>
                      <a:pPr>
                        <a:buNone/>
                      </a:pPr>
                      <a:r>
                        <a:rPr lang="en-IN" sz="1100">
                          <a:latin typeface="Courier New" panose="02070309020205020404" pitchFamily="49" charset="0"/>
                        </a:rPr>
                        <a:t>users</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Login credentials and role (ADMIN / EXAMINER)</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6022014"/>
                  </a:ext>
                </a:extLst>
              </a:tr>
              <a:tr h="390182">
                <a:tc>
                  <a:txBody>
                    <a:bodyPr/>
                    <a:lstStyle/>
                    <a:p>
                      <a:pPr>
                        <a:buNone/>
                      </a:pPr>
                      <a:r>
                        <a:rPr lang="en-IN" sz="1100">
                          <a:latin typeface="Courier New" panose="02070309020205020404" pitchFamily="49" charset="0"/>
                        </a:rPr>
                        <a:t>subject_library</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Pre-loaded course codes and subject names</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1969613"/>
                  </a:ext>
                </a:extLst>
              </a:tr>
              <a:tr h="237563">
                <a:tc>
                  <a:txBody>
                    <a:bodyPr/>
                    <a:lstStyle/>
                    <a:p>
                      <a:pPr>
                        <a:buNone/>
                      </a:pPr>
                      <a:r>
                        <a:rPr lang="en-IN" sz="1100">
                          <a:latin typeface="Courier New" panose="02070309020205020404" pitchFamily="49" charset="0"/>
                        </a:rPr>
                        <a:t>exam_templates</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Saved timetable configurations</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6562207"/>
                  </a:ext>
                </a:extLst>
              </a:tr>
              <a:tr h="416519">
                <a:tc>
                  <a:txBody>
                    <a:bodyPr/>
                    <a:lstStyle/>
                    <a:p>
                      <a:pPr>
                        <a:buNone/>
                      </a:pPr>
                      <a:r>
                        <a:rPr lang="en-IN" sz="1100" dirty="0" err="1">
                          <a:latin typeface="Courier New" panose="02070309020205020404" pitchFamily="49" charset="0"/>
                        </a:rPr>
                        <a:t>timetable_entries</a:t>
                      </a:r>
                      <a:endParaRPr lang="en-IN" sz="1100" dirty="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Persisted timetable data (branch, date, slot, subject)</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0755886"/>
                  </a:ext>
                </a:extLst>
              </a:tr>
              <a:tr h="237563">
                <a:tc>
                  <a:txBody>
                    <a:bodyPr/>
                    <a:lstStyle/>
                    <a:p>
                      <a:pPr>
                        <a:buNone/>
                      </a:pPr>
                      <a:r>
                        <a:rPr lang="en-IN" sz="1100">
                          <a:latin typeface="Courier New" panose="02070309020205020404" pitchFamily="49" charset="0"/>
                        </a:rPr>
                        <a:t>exam_attendance</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Absentee records per student per exam</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2289173"/>
                  </a:ext>
                </a:extLst>
              </a:tr>
              <a:tr h="416519">
                <a:tc>
                  <a:txBody>
                    <a:bodyPr/>
                    <a:lstStyle/>
                    <a:p>
                      <a:pPr>
                        <a:buNone/>
                      </a:pPr>
                      <a:r>
                        <a:rPr lang="en-IN" sz="1100">
                          <a:latin typeface="Courier New" panose="02070309020205020404" pitchFamily="49" charset="0"/>
                        </a:rPr>
                        <a:t>room_status</a:t>
                      </a:r>
                      <a:endParaRPr lang="en-IN" sz="1100"/>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Manual room override: VACANT / OCCUPIED / MAINTENANCE</a:t>
                      </a:r>
                    </a:p>
                  </a:txBody>
                  <a:tcPr marL="54901" marR="54901" marT="27451" marB="274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2009523"/>
                  </a:ext>
                </a:extLst>
              </a:tr>
            </a:tbl>
          </a:graphicData>
        </a:graphic>
      </p:graphicFrame>
    </p:spTree>
    <p:extLst>
      <p:ext uri="{BB962C8B-B14F-4D97-AF65-F5344CB8AC3E}">
        <p14:creationId xmlns:p14="http://schemas.microsoft.com/office/powerpoint/2010/main" val="891828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pic>
        <p:nvPicPr>
          <p:cNvPr id="3" name="Picture 2" descr="A diagram of a computer program&#10;&#10;AI-generated content may be incorrect.">
            <a:extLst>
              <a:ext uri="{FF2B5EF4-FFF2-40B4-BE49-F238E27FC236}">
                <a16:creationId xmlns:a16="http://schemas.microsoft.com/office/drawing/2014/main" id="{8AD8DFAB-984A-8185-16AB-AC5C34CD5C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43856" y="2551531"/>
            <a:ext cx="6858000" cy="4878658"/>
          </a:xfrm>
          <a:prstGeom prst="rect">
            <a:avLst/>
          </a:prstGeom>
        </p:spPr>
      </p:pic>
    </p:spTree>
    <p:extLst>
      <p:ext uri="{BB962C8B-B14F-4D97-AF65-F5344CB8AC3E}">
        <p14:creationId xmlns:p14="http://schemas.microsoft.com/office/powerpoint/2010/main" val="256587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pic>
        <p:nvPicPr>
          <p:cNvPr id="3" name="Picture 2" descr="A diagram of a computer program&#10;&#10;AI-generated content may be incorrect.">
            <a:extLst>
              <a:ext uri="{FF2B5EF4-FFF2-40B4-BE49-F238E27FC236}">
                <a16:creationId xmlns:a16="http://schemas.microsoft.com/office/drawing/2014/main" id="{86196413-DD46-BEE6-124A-643BC4084D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96571" y="2473904"/>
            <a:ext cx="7135200" cy="5075854"/>
          </a:xfrm>
          <a:prstGeom prst="rect">
            <a:avLst/>
          </a:prstGeom>
        </p:spPr>
      </p:pic>
    </p:spTree>
    <p:extLst>
      <p:ext uri="{BB962C8B-B14F-4D97-AF65-F5344CB8AC3E}">
        <p14:creationId xmlns:p14="http://schemas.microsoft.com/office/powerpoint/2010/main" val="1327093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pic>
        <p:nvPicPr>
          <p:cNvPr id="4" name="Picture 3" descr="A diagram of a computer program&#10;&#10;AI-generated content may be incorrect.">
            <a:extLst>
              <a:ext uri="{FF2B5EF4-FFF2-40B4-BE49-F238E27FC236}">
                <a16:creationId xmlns:a16="http://schemas.microsoft.com/office/drawing/2014/main" id="{71F978BC-43C6-2351-6146-8CD37875E7B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95400" y="2248845"/>
            <a:ext cx="7467600" cy="5312317"/>
          </a:xfrm>
          <a:prstGeom prst="rect">
            <a:avLst/>
          </a:prstGeom>
        </p:spPr>
      </p:pic>
    </p:spTree>
    <p:extLst>
      <p:ext uri="{BB962C8B-B14F-4D97-AF65-F5344CB8AC3E}">
        <p14:creationId xmlns:p14="http://schemas.microsoft.com/office/powerpoint/2010/main" val="1096694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Architecture:</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990600" y="1306862"/>
            <a:ext cx="8610599" cy="6633291"/>
          </a:xfrm>
          <a:prstGeom prst="rect">
            <a:avLst/>
          </a:prstGeom>
          <a:noFill/>
        </p:spPr>
        <p:txBody>
          <a:bodyPr wrap="square">
            <a:spAutoFit/>
          </a:bodyPr>
          <a:lstStyle/>
          <a:p>
            <a:pPr>
              <a:lnSpc>
                <a:spcPct val="150000"/>
              </a:lnSpc>
              <a:buNone/>
            </a:pPr>
            <a:r>
              <a:rPr lang="en-IN" sz="2200" dirty="0">
                <a:latin typeface="Times New Roman" panose="02020603050405020304" pitchFamily="18" charset="0"/>
                <a:cs typeface="Times New Roman" panose="02020603050405020304" pitchFamily="18" charset="0"/>
              </a:rPr>
              <a:t>The application is a single Java file (</a:t>
            </a:r>
            <a:r>
              <a:rPr lang="en-IN" sz="2200" dirty="0" err="1">
                <a:latin typeface="Times New Roman" panose="02020603050405020304" pitchFamily="18" charset="0"/>
                <a:cs typeface="Times New Roman" panose="02020603050405020304" pitchFamily="18" charset="0"/>
              </a:rPr>
              <a:t>ExamSeatingSystem.java</a:t>
            </a:r>
            <a:r>
              <a:rPr lang="en-IN" sz="2200" dirty="0">
                <a:latin typeface="Times New Roman" panose="02020603050405020304" pitchFamily="18" charset="0"/>
                <a:cs typeface="Times New Roman" panose="02020603050405020304" pitchFamily="18" charset="0"/>
              </a:rPr>
              <a:t>) that extends </a:t>
            </a:r>
            <a:r>
              <a:rPr lang="en-IN" sz="2200" dirty="0" err="1">
                <a:latin typeface="Times New Roman" panose="02020603050405020304" pitchFamily="18" charset="0"/>
                <a:cs typeface="Times New Roman" panose="02020603050405020304" pitchFamily="18" charset="0"/>
              </a:rPr>
              <a:t>JFrame</a:t>
            </a:r>
            <a:r>
              <a:rPr lang="en-IN" sz="2200" dirty="0">
                <a:latin typeface="Times New Roman" panose="02020603050405020304" pitchFamily="18" charset="0"/>
                <a:cs typeface="Times New Roman" panose="02020603050405020304" pitchFamily="18" charset="0"/>
              </a:rPr>
              <a:t>. At startup it:</a:t>
            </a:r>
          </a:p>
          <a:p>
            <a:pPr>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Connects to MySQL via JDBC (</a:t>
            </a:r>
            <a:r>
              <a:rPr lang="en-IN" sz="2200" dirty="0" err="1">
                <a:latin typeface="Times New Roman" panose="02020603050405020304" pitchFamily="18" charset="0"/>
                <a:cs typeface="Times New Roman" panose="02020603050405020304" pitchFamily="18" charset="0"/>
              </a:rPr>
              <a:t>DriverManager.getConnection</a:t>
            </a:r>
            <a:r>
              <a:rPr lang="en-IN" sz="2200" dirty="0">
                <a:latin typeface="Times New Roman" panose="02020603050405020304" pitchFamily="18" charset="0"/>
                <a:cs typeface="Times New Roman" panose="02020603050405020304" pitchFamily="18" charset="0"/>
              </a:rPr>
              <a:t>)</a:t>
            </a:r>
          </a:p>
          <a:p>
            <a:pPr>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Calls </a:t>
            </a:r>
            <a:r>
              <a:rPr lang="en-IN" sz="2200" dirty="0" err="1">
                <a:latin typeface="Times New Roman" panose="02020603050405020304" pitchFamily="18" charset="0"/>
                <a:cs typeface="Times New Roman" panose="02020603050405020304" pitchFamily="18" charset="0"/>
              </a:rPr>
              <a:t>initDatabase</a:t>
            </a:r>
            <a:r>
              <a:rPr lang="en-IN" sz="2200" dirty="0">
                <a:latin typeface="Times New Roman" panose="02020603050405020304" pitchFamily="18" charset="0"/>
                <a:cs typeface="Times New Roman" panose="02020603050405020304" pitchFamily="18" charset="0"/>
              </a:rPr>
              <a:t>() to create all missing tables</a:t>
            </a:r>
          </a:p>
          <a:p>
            <a:pPr>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Loads the timetable from </a:t>
            </a:r>
            <a:r>
              <a:rPr lang="en-IN" sz="2200" dirty="0" err="1">
                <a:latin typeface="Times New Roman" panose="02020603050405020304" pitchFamily="18" charset="0"/>
                <a:cs typeface="Times New Roman" panose="02020603050405020304" pitchFamily="18" charset="0"/>
              </a:rPr>
              <a:t>timetable_entries</a:t>
            </a:r>
            <a:r>
              <a:rPr lang="en-IN" sz="2200" dirty="0">
                <a:latin typeface="Times New Roman" panose="02020603050405020304" pitchFamily="18" charset="0"/>
                <a:cs typeface="Times New Roman" panose="02020603050405020304" pitchFamily="18" charset="0"/>
              </a:rPr>
              <a:t> into in-memory maps</a:t>
            </a:r>
          </a:p>
          <a:p>
            <a:pPr>
              <a:lnSpc>
                <a:spcPct val="150000"/>
              </a:lnSpc>
              <a:buFont typeface="+mj-lt"/>
              <a:buAutoNum type="arabicPeriod"/>
            </a:pPr>
            <a:r>
              <a:rPr lang="en-IN" sz="2200" dirty="0">
                <a:latin typeface="Times New Roman" panose="02020603050405020304" pitchFamily="18" charset="0"/>
                <a:cs typeface="Times New Roman" panose="02020603050405020304" pitchFamily="18" charset="0"/>
              </a:rPr>
              <a:t>Shows the Login panel</a:t>
            </a:r>
          </a:p>
          <a:p>
            <a:pPr>
              <a:lnSpc>
                <a:spcPct val="150000"/>
              </a:lnSpc>
              <a:buNone/>
            </a:pPr>
            <a:r>
              <a:rPr lang="en-IN" sz="2200" dirty="0">
                <a:latin typeface="Times New Roman" panose="02020603050405020304" pitchFamily="18" charset="0"/>
                <a:cs typeface="Times New Roman" panose="02020603050405020304" pitchFamily="18" charset="0"/>
              </a:rPr>
              <a:t>Navigation uses a </a:t>
            </a:r>
            <a:r>
              <a:rPr lang="en-IN" sz="2200" dirty="0" err="1">
                <a:latin typeface="Times New Roman" panose="02020603050405020304" pitchFamily="18" charset="0"/>
                <a:cs typeface="Times New Roman" panose="02020603050405020304" pitchFamily="18" charset="0"/>
              </a:rPr>
              <a:t>CardLayout</a:t>
            </a:r>
            <a:r>
              <a:rPr lang="en-IN" sz="2200" dirty="0">
                <a:latin typeface="Times New Roman" panose="02020603050405020304" pitchFamily="18" charset="0"/>
                <a:cs typeface="Times New Roman" panose="02020603050405020304" pitchFamily="18" charset="0"/>
              </a:rPr>
              <a:t> at two levels: an outer layout (LOGIN ↔ DASHBOARD) and an inner layout switching between 12 named views (ADMIN_ROOMS, ADMIN_STUDENTS, USER_MANAGEMENT, INVIG_ROSTER, BACKUP_RESTORE, EXAM_ALLOCATION, SCHEDULED_EXAMS, EXAM_TIMETABLE, HALL_TICKETS, CAMPUS_MAP, TEMPLATES, SEARCH). The sidebar shows only the buttons relevant to the logged-in role.</a:t>
            </a:r>
          </a:p>
        </p:txBody>
      </p:sp>
    </p:spTree>
    <p:extLst>
      <p:ext uri="{BB962C8B-B14F-4D97-AF65-F5344CB8AC3E}">
        <p14:creationId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3C082-9EBC-FDA5-491A-E63AEF7AF56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479092-6C9D-1197-9393-231A2CE5DC76}"/>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B41D44A4-45C9-AC10-5284-B33DB9BC68EB}"/>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6A616CB-3F1B-45EE-AB03-1036FC16296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A03B925B-2C3B-45C2-42C2-D79A08712B7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9D5FE084-AFDA-5C6D-C50F-7700E3AFC87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ED83BEB4-08FD-A148-1AF2-08BFC69D187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D51C31A8-97E6-2CEE-0949-D40AC23D0AAF}"/>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867287EB-311F-BA35-48D0-CAC1279175AF}"/>
              </a:ext>
            </a:extLst>
          </p:cNvPr>
          <p:cNvPicPr/>
          <p:nvPr/>
        </p:nvPicPr>
        <p:blipFill>
          <a:blip r:embed="rId6" cstate="print"/>
          <a:stretch>
            <a:fillRect/>
          </a:stretch>
        </p:blipFill>
        <p:spPr>
          <a:xfrm>
            <a:off x="290750" y="204311"/>
            <a:ext cx="1163002" cy="424338"/>
          </a:xfrm>
          <a:prstGeom prst="rect">
            <a:avLst/>
          </a:prstGeom>
        </p:spPr>
      </p:pic>
      <p:graphicFrame>
        <p:nvGraphicFramePr>
          <p:cNvPr id="3" name="Table 2">
            <a:extLst>
              <a:ext uri="{FF2B5EF4-FFF2-40B4-BE49-F238E27FC236}">
                <a16:creationId xmlns:a16="http://schemas.microsoft.com/office/drawing/2014/main" id="{3158FF7E-4B75-9C30-F596-EBBB676069F3}"/>
              </a:ext>
            </a:extLst>
          </p:cNvPr>
          <p:cNvGraphicFramePr>
            <a:graphicFrameLocks noGrp="1"/>
          </p:cNvGraphicFramePr>
          <p:nvPr>
            <p:extLst>
              <p:ext uri="{D42A27DB-BD31-4B8C-83A1-F6EECF244321}">
                <p14:modId xmlns:p14="http://schemas.microsoft.com/office/powerpoint/2010/main" val="2619312581"/>
              </p:ext>
            </p:extLst>
          </p:nvPr>
        </p:nvGraphicFramePr>
        <p:xfrm>
          <a:off x="2334534" y="915815"/>
          <a:ext cx="7571466" cy="6704999"/>
        </p:xfrm>
        <a:graphic>
          <a:graphicData uri="http://schemas.openxmlformats.org/drawingml/2006/table">
            <a:tbl>
              <a:tblPr/>
              <a:tblGrid>
                <a:gridCol w="1889123">
                  <a:extLst>
                    <a:ext uri="{9D8B030D-6E8A-4147-A177-3AD203B41FA5}">
                      <a16:colId xmlns:a16="http://schemas.microsoft.com/office/drawing/2014/main" val="2169819716"/>
                    </a:ext>
                  </a:extLst>
                </a:gridCol>
                <a:gridCol w="2862943">
                  <a:extLst>
                    <a:ext uri="{9D8B030D-6E8A-4147-A177-3AD203B41FA5}">
                      <a16:colId xmlns:a16="http://schemas.microsoft.com/office/drawing/2014/main" val="1299843250"/>
                    </a:ext>
                  </a:extLst>
                </a:gridCol>
                <a:gridCol w="2819400">
                  <a:extLst>
                    <a:ext uri="{9D8B030D-6E8A-4147-A177-3AD203B41FA5}">
                      <a16:colId xmlns:a16="http://schemas.microsoft.com/office/drawing/2014/main" val="1024318035"/>
                    </a:ext>
                  </a:extLst>
                </a:gridCol>
              </a:tblGrid>
              <a:tr h="255690">
                <a:tc>
                  <a:txBody>
                    <a:bodyPr/>
                    <a:lstStyle/>
                    <a:p>
                      <a:pPr>
                        <a:buNone/>
                      </a:pPr>
                      <a:r>
                        <a:rPr lang="en-IN" sz="1500" dirty="0">
                          <a:latin typeface="Times New Roman" panose="02020603050405020304" pitchFamily="18" charset="0"/>
                          <a:cs typeface="Times New Roman" panose="02020603050405020304" pitchFamily="18" charset="0"/>
                        </a:rPr>
                        <a:t>Module</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Class/Method</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Key Logic</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4956740"/>
                  </a:ext>
                </a:extLst>
              </a:tr>
              <a:tr h="791222">
                <a:tc>
                  <a:txBody>
                    <a:bodyPr/>
                    <a:lstStyle/>
                    <a:p>
                      <a:pPr>
                        <a:buNone/>
                      </a:pPr>
                      <a:r>
                        <a:rPr lang="en-IN" sz="1500">
                          <a:latin typeface="Times New Roman" panose="02020603050405020304" pitchFamily="18" charset="0"/>
                          <a:cs typeface="Times New Roman" panose="02020603050405020304" pitchFamily="18" charset="0"/>
                        </a:rPr>
                        <a:t>Login</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createLoginPanel()</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Async DB auth on a background thread; role-based sidebar reveal</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1997526"/>
                  </a:ext>
                </a:extLst>
              </a:tr>
              <a:tr h="876368">
                <a:tc>
                  <a:txBody>
                    <a:bodyPr/>
                    <a:lstStyle/>
                    <a:p>
                      <a:pPr>
                        <a:buNone/>
                      </a:pPr>
                      <a:r>
                        <a:rPr lang="en-IN" sz="1500">
                          <a:latin typeface="Times New Roman" panose="02020603050405020304" pitchFamily="18" charset="0"/>
                          <a:cs typeface="Times New Roman" panose="02020603050405020304" pitchFamily="18" charset="0"/>
                        </a:rPr>
                        <a:t>Room Config</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createAdminRoomPanel()</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Grid of JToggleButtons for seat marking; saves to rooms + room_broken_seats</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9259257"/>
                  </a:ext>
                </a:extLst>
              </a:tr>
              <a:tr h="876368">
                <a:tc>
                  <a:txBody>
                    <a:bodyPr/>
                    <a:lstStyle/>
                    <a:p>
                      <a:pPr>
                        <a:buNone/>
                      </a:pPr>
                      <a:r>
                        <a:rPr lang="en-IN" sz="1500">
                          <a:latin typeface="Times New Roman" panose="02020603050405020304" pitchFamily="18" charset="0"/>
                          <a:cs typeface="Times New Roman" panose="02020603050405020304" pitchFamily="18" charset="0"/>
                        </a:rPr>
                        <a:t>Student Import</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parseAndImportCSV()</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Header-sniffing (roll no / name columns); batch insert; section from filename</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5064113"/>
                  </a:ext>
                </a:extLst>
              </a:tr>
              <a:tr h="876368">
                <a:tc>
                  <a:txBody>
                    <a:bodyPr/>
                    <a:lstStyle/>
                    <a:p>
                      <a:pPr>
                        <a:buNone/>
                      </a:pPr>
                      <a:r>
                        <a:rPr lang="en-IN" sz="1500">
                          <a:latin typeface="Times New Roman" panose="02020603050405020304" pitchFamily="18" charset="0"/>
                          <a:cs typeface="Times New Roman" panose="02020603050405020304" pitchFamily="18" charset="0"/>
                        </a:rPr>
                        <a:t>Seating Engine</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autoGenerateSchedule()</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Column-wise fill; broken-seat skip; unique invigilator per room; DB transaction</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7514184"/>
                  </a:ext>
                </a:extLst>
              </a:tr>
              <a:tr h="601029">
                <a:tc>
                  <a:txBody>
                    <a:bodyPr/>
                    <a:lstStyle/>
                    <a:p>
                      <a:pPr>
                        <a:buNone/>
                      </a:pPr>
                      <a:r>
                        <a:rPr lang="en-IN" sz="1500">
                          <a:latin typeface="Times New Roman" panose="02020603050405020304" pitchFamily="18" charset="0"/>
                          <a:cs typeface="Times New Roman" panose="02020603050405020304" pitchFamily="18" charset="0"/>
                        </a:rPr>
                        <a:t>Timetable</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createExamTimetablePanel()</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In-memory `Map&lt;branch, Map&lt;date</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683482"/>
                  </a:ext>
                </a:extLst>
              </a:tr>
              <a:tr h="665708">
                <a:tc>
                  <a:txBody>
                    <a:bodyPr/>
                    <a:lstStyle/>
                    <a:p>
                      <a:pPr>
                        <a:buNone/>
                      </a:pPr>
                      <a:r>
                        <a:rPr lang="en-IN" sz="1500">
                          <a:latin typeface="Times New Roman" panose="02020603050405020304" pitchFamily="18" charset="0"/>
                          <a:cs typeface="Times New Roman" panose="02020603050405020304" pitchFamily="18" charset="0"/>
                        </a:rPr>
                        <a:t>Report Generation</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generateSeatingHTML(), generateAttendanceHTML()</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Self-contained HTML with print CSS; embeds grid as table</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2136554"/>
                  </a:ext>
                </a:extLst>
              </a:tr>
              <a:tr h="876368">
                <a:tc>
                  <a:txBody>
                    <a:bodyPr/>
                    <a:lstStyle/>
                    <a:p>
                      <a:pPr>
                        <a:buNone/>
                      </a:pPr>
                      <a:r>
                        <a:rPr lang="en-IN" sz="1500">
                          <a:latin typeface="Times New Roman" panose="02020603050405020304" pitchFamily="18" charset="0"/>
                          <a:cs typeface="Times New Roman" panose="02020603050405020304" pitchFamily="18" charset="0"/>
                        </a:rPr>
                        <a:t>Hall Tickets</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generateHallTicketHTML()</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latin typeface="Times New Roman" panose="02020603050405020304" pitchFamily="18" charset="0"/>
                          <a:cs typeface="Times New Roman" panose="02020603050405020304" pitchFamily="18" charset="0"/>
                        </a:rPr>
                        <a:t>Fetches student photo from </a:t>
                      </a:r>
                      <a:r>
                        <a:rPr lang="en-IN" sz="1500" dirty="0" err="1">
                          <a:latin typeface="Times New Roman" panose="02020603050405020304" pitchFamily="18" charset="0"/>
                          <a:cs typeface="Times New Roman" panose="02020603050405020304" pitchFamily="18" charset="0"/>
                        </a:rPr>
                        <a:t>technicalhub.io</a:t>
                      </a:r>
                      <a:r>
                        <a:rPr lang="en-IN" sz="1500" dirty="0">
                          <a:latin typeface="Times New Roman" panose="02020603050405020304" pitchFamily="18" charset="0"/>
                          <a:cs typeface="Times New Roman" panose="02020603050405020304" pitchFamily="18" charset="0"/>
                        </a:rPr>
                        <a:t> URL; exam schedule table; QR placeholder</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3932567"/>
                  </a:ext>
                </a:extLst>
              </a:tr>
              <a:tr h="876368">
                <a:tc>
                  <a:txBody>
                    <a:bodyPr/>
                    <a:lstStyle/>
                    <a:p>
                      <a:pPr>
                        <a:buNone/>
                      </a:pPr>
                      <a:r>
                        <a:rPr lang="en-IN" sz="1500">
                          <a:latin typeface="Times New Roman" panose="02020603050405020304" pitchFamily="18" charset="0"/>
                          <a:cs typeface="Times New Roman" panose="02020603050405020304" pitchFamily="18" charset="0"/>
                        </a:rPr>
                        <a:t>Campus Map</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latin typeface="Times New Roman" panose="02020603050405020304" pitchFamily="18" charset="0"/>
                          <a:cs typeface="Times New Roman" panose="02020603050405020304" pitchFamily="18" charset="0"/>
                        </a:rPr>
                        <a:t>createCampusMapPanel()</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latin typeface="Times New Roman" panose="02020603050405020304" pitchFamily="18" charset="0"/>
                          <a:cs typeface="Times New Roman" panose="02020603050405020304" pitchFamily="18" charset="0"/>
                        </a:rPr>
                        <a:t>Bhavan buttons show room list from DB; Admin gets "Edit Room Details" dialog</a:t>
                      </a:r>
                    </a:p>
                  </a:txBody>
                  <a:tcPr marL="36601" marR="36601" marT="18300" marB="18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4578464"/>
                  </a:ext>
                </a:extLst>
              </a:tr>
            </a:tbl>
          </a:graphicData>
        </a:graphic>
      </p:graphicFrame>
    </p:spTree>
    <p:extLst>
      <p:ext uri="{BB962C8B-B14F-4D97-AF65-F5344CB8AC3E}">
        <p14:creationId xmlns:p14="http://schemas.microsoft.com/office/powerpoint/2010/main" val="1959913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48216-97CF-F337-8407-69188D086B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967E782-AF9E-EA6B-B5C6-81403E3553C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Seating Algorithm:</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CEB55FEC-7112-3D74-B6FB-5CFEED2B0CE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FE770622-AD90-3445-5A2C-76DCE67EBBE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163290B5-1295-C409-C560-1FF8FB3195F3}"/>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130E94B-4C5D-18A9-6C6E-4EBF43356BD4}"/>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AFB43DC7-8ED9-AA7B-104D-3B5AE52B18F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1E12A8AC-DA7A-BF72-546E-3E1984A03A20}"/>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93D2ABB3-B12E-6A44-2882-484C6EBAFC71}"/>
              </a:ext>
            </a:extLst>
          </p:cNvPr>
          <p:cNvPicPr/>
          <p:nvPr/>
        </p:nvPicPr>
        <p:blipFill>
          <a:blip r:embed="rId6" cstate="print"/>
          <a:stretch>
            <a:fillRect/>
          </a:stretch>
        </p:blipFill>
        <p:spPr>
          <a:xfrm>
            <a:off x="290750" y="204311"/>
            <a:ext cx="1163002" cy="424338"/>
          </a:xfrm>
          <a:prstGeom prst="rect">
            <a:avLst/>
          </a:prstGeom>
        </p:spPr>
      </p:pic>
      <p:pic>
        <p:nvPicPr>
          <p:cNvPr id="3" name="Picture 2" descr="A screenshot of a computer program&#10;&#10;AI-generated content may be incorrect.">
            <a:extLst>
              <a:ext uri="{FF2B5EF4-FFF2-40B4-BE49-F238E27FC236}">
                <a16:creationId xmlns:a16="http://schemas.microsoft.com/office/drawing/2014/main" id="{C453B87A-37CC-833D-D4E6-9353626975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 y="2235484"/>
            <a:ext cx="9061148" cy="3860516"/>
          </a:xfrm>
          <a:prstGeom prst="rect">
            <a:avLst/>
          </a:prstGeom>
        </p:spPr>
      </p:pic>
    </p:spTree>
    <p:extLst>
      <p:ext uri="{BB962C8B-B14F-4D97-AF65-F5344CB8AC3E}">
        <p14:creationId xmlns:p14="http://schemas.microsoft.com/office/powerpoint/2010/main" val="950059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pic>
        <p:nvPicPr>
          <p:cNvPr id="12" name="Picture 11" descr="A screen shot of a computer screen&#10;&#10;AI-generated content may be incorrect.">
            <a:extLst>
              <a:ext uri="{FF2B5EF4-FFF2-40B4-BE49-F238E27FC236}">
                <a16:creationId xmlns:a16="http://schemas.microsoft.com/office/drawing/2014/main" id="{A7609966-6CA6-5722-358B-E7F2669AB4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6600" y="946150"/>
            <a:ext cx="7772400" cy="5323404"/>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pic>
        <p:nvPicPr>
          <p:cNvPr id="13" name="Picture 12" descr="A screenshot of a computer screen&#10;&#10;AI-generated content may be incorrect.">
            <a:extLst>
              <a:ext uri="{FF2B5EF4-FFF2-40B4-BE49-F238E27FC236}">
                <a16:creationId xmlns:a16="http://schemas.microsoft.com/office/drawing/2014/main" id="{ADF82FE1-84DD-37B0-4B19-301379407BA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3000" y="1331958"/>
            <a:ext cx="7772400" cy="6300439"/>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pic>
        <p:nvPicPr>
          <p:cNvPr id="12" name="Picture 11" descr="A screenshot of a computer screen&#10;&#10;AI-generated content may be incorrect.">
            <a:extLst>
              <a:ext uri="{FF2B5EF4-FFF2-40B4-BE49-F238E27FC236}">
                <a16:creationId xmlns:a16="http://schemas.microsoft.com/office/drawing/2014/main" id="{C2EC5924-C2AA-FF33-30F7-80BB2BF2BB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5800" y="1292667"/>
            <a:ext cx="7772400" cy="5988384"/>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EE984321-EB91-0E61-A143-D6E9EA430E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0600" y="1516518"/>
            <a:ext cx="7772400" cy="5870293"/>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5886A-B0A7-CBE9-F464-FC13D54C29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3005F4E-1984-A325-D2A1-CCF8967604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3C38D10E-3B00-7A8F-D129-7F560D05990C}"/>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B8F7B94E-6EA7-3F0E-7BE0-51386FF06F43}"/>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BC887118-A35F-8534-AAC7-3C73AE7B4EA0}"/>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18C59B8D-2105-144E-B4AE-5032BBE92BE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94B3E01-D7C7-8817-5F40-B138B8A503F1}"/>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FCAE2586-2B7E-90E7-8AB3-EDF63FABA103}"/>
              </a:ext>
            </a:extLst>
          </p:cNvPr>
          <p:cNvPicPr/>
          <p:nvPr/>
        </p:nvPicPr>
        <p:blipFill>
          <a:blip r:embed="rId6" cstate="print"/>
          <a:stretch>
            <a:fillRect/>
          </a:stretch>
        </p:blipFill>
        <p:spPr>
          <a:xfrm>
            <a:off x="290750" y="204311"/>
            <a:ext cx="1163002" cy="424338"/>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2AAFA230-B74F-CF21-80C9-BE54980CD9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9178" y="1516518"/>
            <a:ext cx="7772400" cy="5606321"/>
          </a:xfrm>
          <a:prstGeom prst="rect">
            <a:avLst/>
          </a:prstGeom>
        </p:spPr>
      </p:pic>
    </p:spTree>
    <p:extLst>
      <p:ext uri="{BB962C8B-B14F-4D97-AF65-F5344CB8AC3E}">
        <p14:creationId xmlns:p14="http://schemas.microsoft.com/office/powerpoint/2010/main" val="1504408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18D13-624F-C97E-FA0C-9952538975E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7344B21A-B956-D928-E144-0DC4185A89AC}"/>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93561934-CB67-A787-7259-AF8D734E3D88}"/>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2D98336-C555-1FB1-B039-53C2D89B49C2}"/>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AAF160B-0A6A-1D38-10FB-B58DD47F684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BBB96F8-495F-BA60-423A-0BE4A49EEE8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BC297903-8311-010E-3B77-EBF9C3DA7BCA}"/>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DEB4446A-72B3-8525-521A-D24B9073E14A}"/>
              </a:ext>
            </a:extLst>
          </p:cNvPr>
          <p:cNvPicPr/>
          <p:nvPr/>
        </p:nvPicPr>
        <p:blipFill>
          <a:blip r:embed="rId6" cstate="print"/>
          <a:stretch>
            <a:fillRect/>
          </a:stretch>
        </p:blipFill>
        <p:spPr>
          <a:xfrm>
            <a:off x="290750" y="204311"/>
            <a:ext cx="1163002" cy="424338"/>
          </a:xfrm>
          <a:prstGeom prst="rect">
            <a:avLst/>
          </a:prstGeom>
        </p:spPr>
      </p:pic>
      <p:pic>
        <p:nvPicPr>
          <p:cNvPr id="4" name="Picture 3" descr="A screenshot of a computer screen&#10;&#10;AI-generated content may be incorrect.">
            <a:extLst>
              <a:ext uri="{FF2B5EF4-FFF2-40B4-BE49-F238E27FC236}">
                <a16:creationId xmlns:a16="http://schemas.microsoft.com/office/drawing/2014/main" id="{C720D00C-B7B4-1798-95DB-4D1F93C1DC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6800" y="1507272"/>
            <a:ext cx="7772400" cy="5848648"/>
          </a:xfrm>
          <a:prstGeom prst="rect">
            <a:avLst/>
          </a:prstGeom>
        </p:spPr>
      </p:pic>
    </p:spTree>
    <p:extLst>
      <p:ext uri="{BB962C8B-B14F-4D97-AF65-F5344CB8AC3E}">
        <p14:creationId xmlns:p14="http://schemas.microsoft.com/office/powerpoint/2010/main" val="3763872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graphicFrame>
        <p:nvGraphicFramePr>
          <p:cNvPr id="2" name="Table 1">
            <a:extLst>
              <a:ext uri="{FF2B5EF4-FFF2-40B4-BE49-F238E27FC236}">
                <a16:creationId xmlns:a16="http://schemas.microsoft.com/office/drawing/2014/main" id="{5EE9AF14-EFC7-09AC-3E16-DB049CD5857B}"/>
              </a:ext>
            </a:extLst>
          </p:cNvPr>
          <p:cNvGraphicFramePr>
            <a:graphicFrameLocks noGrp="1"/>
          </p:cNvGraphicFramePr>
          <p:nvPr>
            <p:extLst>
              <p:ext uri="{D42A27DB-BD31-4B8C-83A1-F6EECF244321}">
                <p14:modId xmlns:p14="http://schemas.microsoft.com/office/powerpoint/2010/main" val="1150271768"/>
              </p:ext>
            </p:extLst>
          </p:nvPr>
        </p:nvGraphicFramePr>
        <p:xfrm>
          <a:off x="838200" y="1400612"/>
          <a:ext cx="8001000" cy="5381187"/>
        </p:xfrm>
        <a:graphic>
          <a:graphicData uri="http://schemas.openxmlformats.org/drawingml/2006/table">
            <a:tbl>
              <a:tblPr/>
              <a:tblGrid>
                <a:gridCol w="2743200">
                  <a:extLst>
                    <a:ext uri="{9D8B030D-6E8A-4147-A177-3AD203B41FA5}">
                      <a16:colId xmlns:a16="http://schemas.microsoft.com/office/drawing/2014/main" val="493391349"/>
                    </a:ext>
                  </a:extLst>
                </a:gridCol>
                <a:gridCol w="5257800">
                  <a:extLst>
                    <a:ext uri="{9D8B030D-6E8A-4147-A177-3AD203B41FA5}">
                      <a16:colId xmlns:a16="http://schemas.microsoft.com/office/drawing/2014/main" val="2779181249"/>
                    </a:ext>
                  </a:extLst>
                </a:gridCol>
              </a:tblGrid>
              <a:tr h="258619">
                <a:tc>
                  <a:txBody>
                    <a:bodyPr/>
                    <a:lstStyle/>
                    <a:p>
                      <a:pPr>
                        <a:buNone/>
                      </a:pPr>
                      <a:r>
                        <a:rPr lang="en-IN" sz="1200" dirty="0">
                          <a:latin typeface="Times New Roman" panose="02020603050405020304" pitchFamily="18" charset="0"/>
                          <a:cs typeface="Times New Roman" panose="02020603050405020304" pitchFamily="18" charset="0"/>
                        </a:rPr>
                        <a:t>Enhancement</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Description</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6942083"/>
                  </a:ext>
                </a:extLst>
              </a:tr>
              <a:tr h="453725">
                <a:tc>
                  <a:txBody>
                    <a:bodyPr/>
                    <a:lstStyle/>
                    <a:p>
                      <a:pPr>
                        <a:buNone/>
                      </a:pPr>
                      <a:r>
                        <a:rPr lang="en-IN" sz="1200"/>
                        <a:t>Password hashing</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Passwords currently stored as plaintext; SHA-256/</a:t>
                      </a:r>
                      <a:r>
                        <a:rPr lang="en-IN" sz="1200" dirty="0" err="1"/>
                        <a:t>bcrypt</a:t>
                      </a:r>
                      <a:r>
                        <a:rPr lang="en-IN" sz="1200" dirty="0"/>
                        <a:t> should be added</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75371"/>
                  </a:ext>
                </a:extLst>
              </a:tr>
              <a:tr h="648831">
                <a:tc>
                  <a:txBody>
                    <a:bodyPr/>
                    <a:lstStyle/>
                    <a:p>
                      <a:pPr>
                        <a:buNone/>
                      </a:pPr>
                      <a:r>
                        <a:rPr lang="en-IN" sz="1200" dirty="0"/>
                        <a:t>Email notifications</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Courier New" panose="02070309020205020404" pitchFamily="49" charset="0"/>
                        </a:rPr>
                        <a:t>sendScheduleToHODs()</a:t>
                      </a:r>
                      <a:r>
                        <a:rPr lang="en-IN" sz="1200"/>
                        <a:t> generates a Power Automate trigger JSON; direct SMTP integration would automate this</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8582526"/>
                  </a:ext>
                </a:extLst>
              </a:tr>
              <a:tr h="453725">
                <a:tc>
                  <a:txBody>
                    <a:bodyPr/>
                    <a:lstStyle/>
                    <a:p>
                      <a:pPr>
                        <a:buNone/>
                      </a:pPr>
                      <a:r>
                        <a:rPr lang="en-IN" sz="1200"/>
                        <a:t>Barcode/QR on hall tickets</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QR placeholder exists; integrate a library like ZXing to generate real QR codes</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6642"/>
                  </a:ext>
                </a:extLst>
              </a:tr>
              <a:tr h="453725">
                <a:tc>
                  <a:txBody>
                    <a:bodyPr/>
                    <a:lstStyle/>
                    <a:p>
                      <a:pPr>
                        <a:buNone/>
                      </a:pPr>
                      <a:r>
                        <a:rPr lang="en-IN" sz="1200" dirty="0"/>
                        <a:t>Biometric attendance</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Replace checkbox absentee marking with fingerprint/face scan integration</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6254389"/>
                  </a:ext>
                </a:extLst>
              </a:tr>
              <a:tr h="453725">
                <a:tc>
                  <a:txBody>
                    <a:bodyPr/>
                    <a:lstStyle/>
                    <a:p>
                      <a:pPr>
                        <a:buNone/>
                      </a:pPr>
                      <a:r>
                        <a:rPr lang="en-IN" sz="1200"/>
                        <a:t>Web interface</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Convert Swing frontend to a Spring Boot + React web app for remote access</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192955"/>
                  </a:ext>
                </a:extLst>
              </a:tr>
              <a:tr h="648831">
                <a:tc>
                  <a:txBody>
                    <a:bodyPr/>
                    <a:lstStyle/>
                    <a:p>
                      <a:pPr>
                        <a:buNone/>
                      </a:pPr>
                      <a:r>
                        <a:rPr lang="en-IN" sz="1200"/>
                        <a:t>PDF export</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latin typeface="Courier New" panose="02070309020205020404" pitchFamily="49" charset="0"/>
                        </a:rPr>
                        <a:t>convertHtmlToPdfMac()</a:t>
                      </a:r>
                      <a:r>
                        <a:rPr lang="en-IN" sz="1200"/>
                        <a:t> tries </a:t>
                      </a:r>
                      <a:r>
                        <a:rPr lang="en-IN" sz="1200">
                          <a:latin typeface="Courier New" panose="02070309020205020404" pitchFamily="49" charset="0"/>
                        </a:rPr>
                        <a:t>wkhtmltopdf</a:t>
                      </a:r>
                      <a:r>
                        <a:rPr lang="en-IN" sz="1200"/>
                        <a:t>; integrate iText/OpenPDF for cross-platform PDF generation</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9796981"/>
                  </a:ext>
                </a:extLst>
              </a:tr>
              <a:tr h="453725">
                <a:tc>
                  <a:txBody>
                    <a:bodyPr/>
                    <a:lstStyle/>
                    <a:p>
                      <a:pPr>
                        <a:buNone/>
                      </a:pPr>
                      <a:r>
                        <a:rPr lang="en-IN" sz="1200"/>
                        <a:t>Role granularity</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Add a "Viewer" role (read-only) for department heads</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2139438"/>
                  </a:ext>
                </a:extLst>
              </a:tr>
              <a:tr h="648831">
                <a:tc>
                  <a:txBody>
                    <a:bodyPr/>
                    <a:lstStyle/>
                    <a:p>
                      <a:pPr>
                        <a:buNone/>
                      </a:pPr>
                      <a:r>
                        <a:rPr lang="en-IN" sz="1200"/>
                        <a:t>Conflict detection</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System warns on same student appearing in two sections; extend to full timetable clash matrix</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298575"/>
                  </a:ext>
                </a:extLst>
              </a:tr>
              <a:tr h="453725">
                <a:tc>
                  <a:txBody>
                    <a:bodyPr/>
                    <a:lstStyle/>
                    <a:p>
                      <a:pPr>
                        <a:buNone/>
                      </a:pPr>
                      <a:r>
                        <a:rPr lang="en-IN" sz="1200"/>
                        <a:t>Supplementary exam seating</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Tab exists; scattered/alternate-seat modes need the allocation engine to be wired up</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130193"/>
                  </a:ext>
                </a:extLst>
              </a:tr>
              <a:tr h="453725">
                <a:tc>
                  <a:txBody>
                    <a:bodyPr/>
                    <a:lstStyle/>
                    <a:p>
                      <a:pPr>
                        <a:buNone/>
                      </a:pPr>
                      <a:r>
                        <a:rPr lang="en-IN" sz="1200" dirty="0"/>
                        <a:t>Audit log</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Track who generated which schedule and when</a:t>
                      </a:r>
                    </a:p>
                  </a:txBody>
                  <a:tcPr marL="39688" marR="39688" marT="19844" marB="19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9500597"/>
                  </a:ext>
                </a:extLst>
              </a:tr>
            </a:tbl>
          </a:graphicData>
        </a:graphic>
      </p:graphicFrame>
    </p:spTree>
    <p:extLst>
      <p:ext uri="{BB962C8B-B14F-4D97-AF65-F5344CB8AC3E}">
        <p14:creationId xmlns:p14="http://schemas.microsoft.com/office/powerpoint/2010/main" val="1218789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flipV="1">
            <a:off x="609600" y="3361183"/>
            <a:ext cx="8017164" cy="958596"/>
          </a:xfrm>
          <a:prstGeom prst="rect">
            <a:avLst/>
          </a:prstGeom>
          <a:noFill/>
        </p:spPr>
        <p:txBody>
          <a:bodyPr wrap="square" rtlCol="0">
            <a:spAutoFit/>
          </a:bodyPr>
          <a:lstStyle/>
          <a:p>
            <a:pPr algn="just">
              <a:lnSpc>
                <a:spcPct val="150000"/>
              </a:lnSpc>
            </a:pPr>
            <a:endParaRPr lang="en-IN" sz="2000"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5" cstate="print"/>
          <a:stretch>
            <a:fillRect/>
          </a:stretch>
        </p:blipFill>
        <p:spPr>
          <a:xfrm>
            <a:off x="290750" y="204311"/>
            <a:ext cx="1163002" cy="424338"/>
          </a:xfrm>
          <a:prstGeom prst="rect">
            <a:avLst/>
          </a:prstGeom>
        </p:spPr>
      </p:pic>
      <p:sp>
        <p:nvSpPr>
          <p:cNvPr id="5" name="Rectangle 4">
            <a:extLst>
              <a:ext uri="{FF2B5EF4-FFF2-40B4-BE49-F238E27FC236}">
                <a16:creationId xmlns:a16="http://schemas.microsoft.com/office/drawing/2014/main" id="{C8ADFDF0-1090-52DD-5EF0-BD2DBF014581}"/>
              </a:ext>
            </a:extLst>
          </p:cNvPr>
          <p:cNvSpPr>
            <a:spLocks noChangeArrowheads="1"/>
          </p:cNvSpPr>
          <p:nvPr/>
        </p:nvSpPr>
        <p:spPr bwMode="auto">
          <a:xfrm>
            <a:off x="304800" y="2443270"/>
            <a:ext cx="9525000"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Aditya University Internal System —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projectdb</a:t>
            </a:r>
            <a:r>
              <a:rPr kumimoji="0" lang="en-US" altLang="en-US" sz="800" b="0" i="0" u="none" strike="noStrike" cap="none" normalizeH="0" baseline="0" dirty="0">
                <a:ln>
                  <a:noFill/>
                </a:ln>
                <a:solidFill>
                  <a:schemeClr val="tx1"/>
                </a:solidFill>
                <a:effectLst/>
              </a:rPr>
              <a:t> schema and student data</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Java SE Documentation —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javax.swing</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java.awt</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java.sql</a:t>
            </a:r>
            <a:r>
              <a:rPr kumimoji="0" lang="en-US" altLang="en-US" sz="800" b="0" i="0" u="none" strike="noStrike" cap="none" normalizeH="0" baseline="0" dirty="0">
                <a:ln>
                  <a:noFill/>
                </a:ln>
                <a:solidFill>
                  <a:schemeClr val="tx1"/>
                </a:solidFill>
                <a:effectLst/>
              </a:rPr>
              <a:t> packages —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https://docs.oracle.com/en/java/</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MySQL 8.0 Reference Manual — </a:t>
            </a: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https://dev.mysql.com/doc/</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TechnicalHub</a:t>
            </a:r>
            <a:r>
              <a:rPr kumimoji="0" lang="en-US" altLang="en-US" sz="1800" b="0" i="0" u="none" strike="noStrike" cap="none" normalizeH="0" baseline="0" dirty="0">
                <a:ln>
                  <a:noFill/>
                </a:ln>
                <a:solidFill>
                  <a:schemeClr val="tx1"/>
                </a:solidFill>
                <a:effectLst/>
                <a:latin typeface="Arial" panose="020B0604020202020204" pitchFamily="34" charset="0"/>
              </a:rPr>
              <a:t> Student Portal API — </a:t>
            </a:r>
            <a:r>
              <a:rPr kumimoji="0" lang="en-US" altLang="en-US" sz="1000" b="0" i="0" u="none" strike="noStrike" cap="none" normalizeH="0" baseline="0" dirty="0">
                <a:ln>
                  <a:noFill/>
                </a:ln>
                <a:solidFill>
                  <a:schemeClr val="tx1"/>
                </a:solidFill>
                <a:effectLst/>
                <a:latin typeface="Arial Unicode MS" panose="020B0604020202020204" pitchFamily="34" charset="-128"/>
              </a:rPr>
              <a:t>https://mobile.technicalhub.io:5010/student/{</a:t>
            </a:r>
            <a:r>
              <a:rPr kumimoji="0" lang="en-US" altLang="en-US" sz="1000" b="0" i="0" u="none" strike="noStrike" cap="none" normalizeH="0" baseline="0" dirty="0" err="1">
                <a:ln>
                  <a:noFill/>
                </a:ln>
                <a:solidFill>
                  <a:schemeClr val="tx1"/>
                </a:solidFill>
                <a:effectLst/>
                <a:latin typeface="Arial Unicode MS" panose="020B0604020202020204" pitchFamily="34" charset="-128"/>
              </a:rPr>
              <a:t>rollNo</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r>
              <a:rPr kumimoji="0" lang="en-US" altLang="en-US" sz="1000" b="0" i="0" u="none" strike="noStrike" cap="none" normalizeH="0" baseline="0" dirty="0" err="1">
                <a:ln>
                  <a:noFill/>
                </a:ln>
                <a:solidFill>
                  <a:schemeClr val="tx1"/>
                </a:solidFill>
                <a:effectLst/>
                <a:latin typeface="Arial Unicode MS" panose="020B0604020202020204" pitchFamily="34" charset="-128"/>
              </a:rPr>
              <a:t>png</a:t>
            </a:r>
            <a:r>
              <a:rPr kumimoji="0" lang="en-US" altLang="en-US" sz="800" b="0" i="0" u="none" strike="noStrike" cap="none" normalizeH="0" baseline="0" dirty="0">
                <a:ln>
                  <a:noFill/>
                </a:ln>
                <a:solidFill>
                  <a:schemeClr val="tx1"/>
                </a:solidFill>
                <a:effectLst/>
              </a:rPr>
              <a:t> (student photo service)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Power Automate Documentation — used for HOD email trigger workflow — </a:t>
            </a: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https://learn.microsoft.com/en-us/power-automate/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PptxGenJS</a:t>
            </a:r>
            <a:r>
              <a:rPr kumimoji="0" lang="en-US" altLang="en-US" sz="1800" b="0" i="0" u="none" strike="noStrike" cap="none" normalizeH="0" baseline="0" dirty="0">
                <a:ln>
                  <a:noFill/>
                </a:ln>
                <a:solidFill>
                  <a:schemeClr val="tx1"/>
                </a:solidFill>
                <a:effectLst/>
                <a:latin typeface="Arial" panose="020B0604020202020204" pitchFamily="34" charset="0"/>
              </a:rPr>
              <a:t> / LibreOffice — for PPT/PDF generation reference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Java Swing in Action</a:t>
            </a:r>
            <a:r>
              <a:rPr kumimoji="0" lang="en-US" altLang="en-US" sz="1800" b="0" i="0" u="none" strike="noStrike" cap="none" normalizeH="0" baseline="0" dirty="0">
                <a:ln>
                  <a:noFill/>
                </a:ln>
                <a:solidFill>
                  <a:schemeClr val="tx1"/>
                </a:solidFill>
                <a:effectLst/>
                <a:latin typeface="Arial" panose="020B0604020202020204" pitchFamily="34" charset="0"/>
              </a:rPr>
              <a:t> — Manning Publications (general Swing reference)</a:t>
            </a:r>
          </a:p>
        </p:txBody>
      </p:sp>
    </p:spTree>
    <p:extLst>
      <p:ext uri="{BB962C8B-B14F-4D97-AF65-F5344CB8AC3E}">
        <p14:creationId xmlns:p14="http://schemas.microsoft.com/office/powerpoint/2010/main" val="2182020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381000" y="1323261"/>
            <a:ext cx="9448800" cy="612545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Exam Seating System successfully digitalises a process that was previously done on paper. It handles the full lifecycle — room setup, student data, seating generation, timetable, hall tickets, and attendance — in a single desktop application. The column-wise allocation algorithm prevents students from the same section sitting adjacent, reducing malpractice risk. The auto-invigilator assignment ensures no faculty member is double-booked for the same slot. HTML exports with embedded print CSS mean printed documents require no additional formatting. The system is actively tailored to Aditya University's campus structure (7 named Bhavans, 34+ preloaded subjects, section naming conventions), making it immediately deployable. Future work will focus on moving to a web-based interface, adding real PDF generation, and strengthening authentication.</a:t>
            </a:r>
            <a:endParaRPr lang="en-US" sz="22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2626</TotalTime>
  <Words>1450</Words>
  <Application>Microsoft Macintosh PowerPoint</Application>
  <PresentationFormat>Custom</PresentationFormat>
  <Paragraphs>200</Paragraphs>
  <Slides>24</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Arial Unicode MS</vt:lpstr>
      <vt:lpstr>Calibri</vt:lpstr>
      <vt:lpstr>Cambria</vt:lpstr>
      <vt:lpstr>Courier New</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PowerPoint Presentation</vt:lpstr>
      <vt:lpstr>Database Design</vt:lpstr>
      <vt:lpstr>Database Design</vt:lpstr>
      <vt:lpstr>Database Design</vt:lpstr>
      <vt:lpstr>Database Design</vt:lpstr>
      <vt:lpstr>SYSTEM DESIGN</vt:lpstr>
      <vt:lpstr>SYSTEM DESIGN</vt:lpstr>
      <vt:lpstr>SYSTEM DESIGN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arun vedula</cp:lastModifiedBy>
  <cp:revision>53</cp:revision>
  <cp:lastPrinted>2025-10-14T18:21:49Z</cp:lastPrinted>
  <dcterms:created xsi:type="dcterms:W3CDTF">2025-10-10T08:28:06Z</dcterms:created>
  <dcterms:modified xsi:type="dcterms:W3CDTF">2026-04-07T01:49:37Z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